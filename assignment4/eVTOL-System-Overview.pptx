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1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EB70297-7BA0-475B-B268-6DC11D53FB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4FE777-516C-4F0F-A024-2712BB3F4B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45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0C1F09-CCE8-414B-8059-224EF8683A25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RESEARCH PROTOTYPE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AD5ACA-F74D-4289-AFC1-E6925F231CDA}"/>
              </a:ext>
            </a:extLst>
          </p:cNvPr>
          <p:cNvSpPr>
            <a:spLocks noGrp="1"/>
          </p:cNvSpPr>
          <p:nvPr/>
        </p:nvSpPr>
        <p:spPr>
          <a:xfrm>
            <a:off x="666750" y="1143000"/>
            <a:ext cx="72390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Interactive eVTOL</a:t>
            </a:r>
          </a:p>
          <a:p>
            <a:pPr algn="l">
              <a:defRPr sz="40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Vertiport Siting &amp;</a:t>
            </a:r>
          </a:p>
          <a:p>
            <a:pPr algn="l">
              <a:defRPr sz="40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Route Planning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0CFAF3-9165-4A91-A40E-93D8218E2E9B}"/>
              </a:ext>
            </a:extLst>
          </p:cNvPr>
          <p:cNvSpPr>
            <a:spLocks noGrp="1"/>
          </p:cNvSpPr>
          <p:nvPr/>
        </p:nvSpPr>
        <p:spPr>
          <a:xfrm>
            <a:off x="695325" y="3190875"/>
            <a:ext cx="6286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4A556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561"/>
                </a:solidFill>
                <a:latin typeface="Aptos"/>
                <a:ea typeface="Aptos"/>
                <a:cs typeface="Aptos"/>
              </a:rPr>
              <a:t>A two-dimensional decision-support system integrating demand generation, spatial risk and cost modeling, K-means, genetic algorithms, A*, and RRT*.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62875" y="1646464"/>
            <a:ext cx="3810000" cy="280307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CE7BF1C-A2DE-4189-B4E1-510F775C1053}"/>
              </a:ext>
            </a:extLst>
          </p:cNvPr>
          <p:cNvSpPr>
            <a:spLocks noGrp="1"/>
          </p:cNvSpPr>
          <p:nvPr/>
        </p:nvSpPr>
        <p:spPr>
          <a:xfrm>
            <a:off x="7762875" y="5524500"/>
            <a:ext cx="3810000" cy="190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44A63D-E79B-4424-896F-AE1E79C3453F}"/>
              </a:ext>
            </a:extLst>
          </p:cNvPr>
          <p:cNvSpPr>
            <a:spLocks noGrp="1"/>
          </p:cNvSpPr>
          <p:nvPr/>
        </p:nvSpPr>
        <p:spPr>
          <a:xfrm>
            <a:off x="7762875" y="5667375"/>
            <a:ext cx="381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Demand → Candidates → Optimized Sites → Routes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165E10-FFE1-4928-A73A-C3FCBCAD06C8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System Overview | English Presentation</a:t>
            </a:r>
          </a:p>
        </p:txBody>
      </p:sp>
    </p:spTree>
    <p:extLst>
      <p:ext uri="{BB962C8B-B14F-4D97-AF65-F5344CB8AC3E}">
        <p14:creationId xmlns:p14="http://schemas.microsoft.com/office/powerpoint/2010/main" val="907191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645D74D-10C7-4F88-A021-8B6975EEA2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091CA2-11DA-4EC6-B348-F9A7D8F37B9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SYSTEM LOGIC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549C2B-C2A9-4813-AB8E-D0E073641D27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10096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One continuous workflow links strategic siting to operational routing.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A277F1-FE3D-4B4D-9CD0-055EA147465F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5238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D569B5-C164-44EF-88A4-B27869A47B1B}"/>
              </a:ext>
            </a:extLst>
          </p:cNvPr>
          <p:cNvSpPr>
            <a:spLocks noGrp="1"/>
          </p:cNvSpPr>
          <p:nvPr/>
        </p:nvSpPr>
        <p:spPr>
          <a:xfrm>
            <a:off x="590550" y="2647950"/>
            <a:ext cx="1714500" cy="28575"/>
          </a:xfrm>
          <a:prstGeom prst="rect">
            <a:avLst/>
          </a:prstGeom>
          <a:solidFill>
            <a:srgbClr val="E45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B1AFD2-1DA5-41EA-B214-4C5FF9B6B1E3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180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Urban Scenario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4BC9B8-2A9D-49CF-85D6-C401605F3259}"/>
              </a:ext>
            </a:extLst>
          </p:cNvPr>
          <p:cNvSpPr>
            <a:spLocks noGrp="1"/>
          </p:cNvSpPr>
          <p:nvPr/>
        </p:nvSpPr>
        <p:spPr>
          <a:xfrm>
            <a:off x="590550" y="3524250"/>
            <a:ext cx="1809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Generate weighted passenger demand, risk hotspots, and spatial cost fields.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E9EE3E-ABA9-4B1F-B3D2-E904FBA0D1D0}"/>
              </a:ext>
            </a:extLst>
          </p:cNvPr>
          <p:cNvSpPr>
            <a:spLocks noGrp="1"/>
          </p:cNvSpPr>
          <p:nvPr/>
        </p:nvSpPr>
        <p:spPr>
          <a:xfrm>
            <a:off x="2447925" y="2800350"/>
            <a:ext cx="36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0">
                <a:solidFill>
                  <a:srgbClr val="A7B0B8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7B0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56F2DC-D59A-4A1E-BFFD-2D4523611A12}"/>
              </a:ext>
            </a:extLst>
          </p:cNvPr>
          <p:cNvSpPr>
            <a:spLocks noGrp="1"/>
          </p:cNvSpPr>
          <p:nvPr/>
        </p:nvSpPr>
        <p:spPr>
          <a:xfrm>
            <a:off x="2905125" y="2095500"/>
            <a:ext cx="5238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7683CC-D6A3-4704-A410-DAE0DCEA648D}"/>
              </a:ext>
            </a:extLst>
          </p:cNvPr>
          <p:cNvSpPr>
            <a:spLocks noGrp="1"/>
          </p:cNvSpPr>
          <p:nvPr/>
        </p:nvSpPr>
        <p:spPr>
          <a:xfrm>
            <a:off x="2905125" y="2647950"/>
            <a:ext cx="1714500" cy="28575"/>
          </a:xfrm>
          <a:prstGeom prst="rect">
            <a:avLst/>
          </a:prstGeom>
          <a:solidFill>
            <a:srgbClr val="E45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B953F8-EC4A-4C2F-8F51-833C5EEE3914}"/>
              </a:ext>
            </a:extLst>
          </p:cNvPr>
          <p:cNvSpPr>
            <a:spLocks noGrp="1"/>
          </p:cNvSpPr>
          <p:nvPr/>
        </p:nvSpPr>
        <p:spPr>
          <a:xfrm>
            <a:off x="2905125" y="2857500"/>
            <a:ext cx="180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Candidate Generation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2EAC6C-FB03-4284-AA85-14810E7809B4}"/>
              </a:ext>
            </a:extLst>
          </p:cNvPr>
          <p:cNvSpPr>
            <a:spLocks noGrp="1"/>
          </p:cNvSpPr>
          <p:nvPr/>
        </p:nvSpPr>
        <p:spPr>
          <a:xfrm>
            <a:off x="2905125" y="3524250"/>
            <a:ext cx="1809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Apply weighted K-means; cluster centers become candidate vertiports.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6E6D42-4031-4040-893A-75E93B89F15E}"/>
              </a:ext>
            </a:extLst>
          </p:cNvPr>
          <p:cNvSpPr>
            <a:spLocks noGrp="1"/>
          </p:cNvSpPr>
          <p:nvPr/>
        </p:nvSpPr>
        <p:spPr>
          <a:xfrm>
            <a:off x="4762500" y="2800350"/>
            <a:ext cx="36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0">
                <a:solidFill>
                  <a:srgbClr val="A7B0B8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7B0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F239E2-A3E5-45D6-B003-EFF0F94DDB18}"/>
              </a:ext>
            </a:extLst>
          </p:cNvPr>
          <p:cNvSpPr>
            <a:spLocks noGrp="1"/>
          </p:cNvSpPr>
          <p:nvPr/>
        </p:nvSpPr>
        <p:spPr>
          <a:xfrm>
            <a:off x="5219700" y="2095500"/>
            <a:ext cx="5238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029883-3612-4603-8136-8BB5C9FB7ED4}"/>
              </a:ext>
            </a:extLst>
          </p:cNvPr>
          <p:cNvSpPr>
            <a:spLocks noGrp="1"/>
          </p:cNvSpPr>
          <p:nvPr/>
        </p:nvSpPr>
        <p:spPr>
          <a:xfrm>
            <a:off x="5219700" y="2647950"/>
            <a:ext cx="1714500" cy="28575"/>
          </a:xfrm>
          <a:prstGeom prst="rect">
            <a:avLst/>
          </a:prstGeom>
          <a:solidFill>
            <a:srgbClr val="E45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6256F78-1A95-4202-9E23-F309701EC4B4}"/>
              </a:ext>
            </a:extLst>
          </p:cNvPr>
          <p:cNvSpPr>
            <a:spLocks noGrp="1"/>
          </p:cNvSpPr>
          <p:nvPr/>
        </p:nvSpPr>
        <p:spPr>
          <a:xfrm>
            <a:off x="5219700" y="2857500"/>
            <a:ext cx="180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Siting Optimization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1D985F-CE70-4CEF-903E-3FA07525309C}"/>
              </a:ext>
            </a:extLst>
          </p:cNvPr>
          <p:cNvSpPr>
            <a:spLocks noGrp="1"/>
          </p:cNvSpPr>
          <p:nvPr/>
        </p:nvSpPr>
        <p:spPr>
          <a:xfrm>
            <a:off x="5219700" y="3524250"/>
            <a:ext cx="1809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Use a genetic algorithm to balance coverage, safety, and cost.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239E17-8352-4CDA-864B-AB1B3927B39F}"/>
              </a:ext>
            </a:extLst>
          </p:cNvPr>
          <p:cNvSpPr>
            <a:spLocks noGrp="1"/>
          </p:cNvSpPr>
          <p:nvPr/>
        </p:nvSpPr>
        <p:spPr>
          <a:xfrm>
            <a:off x="7077075" y="2800350"/>
            <a:ext cx="36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0">
                <a:solidFill>
                  <a:srgbClr val="A7B0B8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7B0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042820-93E7-428A-AA9D-6888EC8AEDAA}"/>
              </a:ext>
            </a:extLst>
          </p:cNvPr>
          <p:cNvSpPr>
            <a:spLocks noGrp="1"/>
          </p:cNvSpPr>
          <p:nvPr/>
        </p:nvSpPr>
        <p:spPr>
          <a:xfrm>
            <a:off x="7534275" y="2095500"/>
            <a:ext cx="5238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8156441-4FB7-4F4C-AD36-ABF9BB45001B}"/>
              </a:ext>
            </a:extLst>
          </p:cNvPr>
          <p:cNvSpPr>
            <a:spLocks noGrp="1"/>
          </p:cNvSpPr>
          <p:nvPr/>
        </p:nvSpPr>
        <p:spPr>
          <a:xfrm>
            <a:off x="7534275" y="2647950"/>
            <a:ext cx="1714500" cy="28575"/>
          </a:xfrm>
          <a:prstGeom prst="rect">
            <a:avLst/>
          </a:prstGeom>
          <a:solidFill>
            <a:srgbClr val="1F7A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356BA39-A7A1-4DB7-8D30-2BBA29017524}"/>
              </a:ext>
            </a:extLst>
          </p:cNvPr>
          <p:cNvSpPr>
            <a:spLocks noGrp="1"/>
          </p:cNvSpPr>
          <p:nvPr/>
        </p:nvSpPr>
        <p:spPr>
          <a:xfrm>
            <a:off x="7534275" y="2857500"/>
            <a:ext cx="180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Route Planning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4ECAC4-A75C-4AD3-B167-3AE7A4B3BD9C}"/>
              </a:ext>
            </a:extLst>
          </p:cNvPr>
          <p:cNvSpPr>
            <a:spLocks noGrp="1"/>
          </p:cNvSpPr>
          <p:nvPr/>
        </p:nvSpPr>
        <p:spPr>
          <a:xfrm>
            <a:off x="7534275" y="3524250"/>
            <a:ext cx="1809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Plan routes from selected vertiports to a fixed airport connection point.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313710-6449-4BFA-80DB-02832C925508}"/>
              </a:ext>
            </a:extLst>
          </p:cNvPr>
          <p:cNvSpPr>
            <a:spLocks noGrp="1"/>
          </p:cNvSpPr>
          <p:nvPr/>
        </p:nvSpPr>
        <p:spPr>
          <a:xfrm>
            <a:off x="9391650" y="2800350"/>
            <a:ext cx="36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0">
                <a:solidFill>
                  <a:srgbClr val="A7B0B8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7B0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1F2755-D7F8-4ACF-B476-A0D136E768EE}"/>
              </a:ext>
            </a:extLst>
          </p:cNvPr>
          <p:cNvSpPr>
            <a:spLocks noGrp="1"/>
          </p:cNvSpPr>
          <p:nvPr/>
        </p:nvSpPr>
        <p:spPr>
          <a:xfrm>
            <a:off x="9848850" y="2095500"/>
            <a:ext cx="5238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80801D-66AC-4060-948D-921B74808654}"/>
              </a:ext>
            </a:extLst>
          </p:cNvPr>
          <p:cNvSpPr>
            <a:spLocks noGrp="1"/>
          </p:cNvSpPr>
          <p:nvPr/>
        </p:nvSpPr>
        <p:spPr>
          <a:xfrm>
            <a:off x="9848850" y="2647950"/>
            <a:ext cx="1714500" cy="28575"/>
          </a:xfrm>
          <a:prstGeom prst="rect">
            <a:avLst/>
          </a:prstGeom>
          <a:solidFill>
            <a:srgbClr val="1F7A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CB5BA55-6881-4555-ADB7-16929BFD5186}"/>
              </a:ext>
            </a:extLst>
          </p:cNvPr>
          <p:cNvSpPr>
            <a:spLocks noGrp="1"/>
          </p:cNvSpPr>
          <p:nvPr/>
        </p:nvSpPr>
        <p:spPr>
          <a:xfrm>
            <a:off x="9848850" y="2857500"/>
            <a:ext cx="180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Algorithm Comparison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C7FBE4-9602-4904-87EE-A097F90A17E1}"/>
              </a:ext>
            </a:extLst>
          </p:cNvPr>
          <p:cNvSpPr>
            <a:spLocks noGrp="1"/>
          </p:cNvSpPr>
          <p:nvPr/>
        </p:nvSpPr>
        <p:spPr>
          <a:xfrm>
            <a:off x="9848850" y="3524250"/>
            <a:ext cx="1809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Compare A* and RRT* through paths, search behavior, and quantitative metrics.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723F491-82CE-4157-B902-1FB0C27D6265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11049000" cy="9525"/>
          </a:xfrm>
          <a:prstGeom prst="rect">
            <a:avLst/>
          </a:prstGeom>
          <a:solidFill>
            <a:srgbClr val="D8DD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0D87F2-7247-4A85-BB86-D8CE59B3185C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1104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same spatial fields and selected sites are reused across modules, preserving consistency between planning stages.</a:t>
            </a:r>
          </a:p>
        </p:txBody>
      </p:sp>
    </p:spTree>
    <p:extLst>
      <p:ext uri="{BB962C8B-B14F-4D97-AF65-F5344CB8AC3E}">
        <p14:creationId xmlns:p14="http://schemas.microsoft.com/office/powerpoint/2010/main" val="1366026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CF914B4-727E-48C7-A9C8-3B346EAC59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18969C-B5D4-4A8E-A32F-5811EB62B8FE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2476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MODULE 1 · SITING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31EB07-7C54-4F8D-B311-54011D5E31F4}"/>
              </a:ext>
            </a:extLst>
          </p:cNvPr>
          <p:cNvSpPr>
            <a:spLocks noGrp="1"/>
          </p:cNvSpPr>
          <p:nvPr/>
        </p:nvSpPr>
        <p:spPr>
          <a:xfrm>
            <a:off x="523875" y="723900"/>
            <a:ext cx="10668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siting engine makes demand, risk, and cost trade-offs visible.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7671" y="1476375"/>
            <a:ext cx="6538034" cy="48101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E267144-0128-43C1-8E32-CA3AA159D38F}"/>
              </a:ext>
            </a:extLst>
          </p:cNvPr>
          <p:cNvSpPr>
            <a:spLocks noGrp="1"/>
          </p:cNvSpPr>
          <p:nvPr/>
        </p:nvSpPr>
        <p:spPr>
          <a:xfrm>
            <a:off x="7953375" y="1619250"/>
            <a:ext cx="3476625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DA5050-AD93-41AB-9436-2BEB1BDB5A30}"/>
              </a:ext>
            </a:extLst>
          </p:cNvPr>
          <p:cNvSpPr>
            <a:spLocks noGrp="1"/>
          </p:cNvSpPr>
          <p:nvPr/>
        </p:nvSpPr>
        <p:spPr>
          <a:xfrm>
            <a:off x="8143875" y="1752600"/>
            <a:ext cx="3095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Demand model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524C87-2EB1-4ECE-AABA-D298D8423DE6}"/>
              </a:ext>
            </a:extLst>
          </p:cNvPr>
          <p:cNvSpPr>
            <a:spLocks noGrp="1"/>
          </p:cNvSpPr>
          <p:nvPr/>
        </p:nvSpPr>
        <p:spPr>
          <a:xfrm>
            <a:off x="8143875" y="2047875"/>
            <a:ext cx="30956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4A55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5561"/>
                </a:solidFill>
                <a:latin typeface="Aptos"/>
                <a:ea typeface="Aptos"/>
                <a:cs typeface="Aptos"/>
              </a:rPr>
              <a:t>Weighted Gaussian demand clusters approximate heterogeneous urban travel demand.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757F1E-263D-49B1-8CCF-DEB2049F1AA4}"/>
              </a:ext>
            </a:extLst>
          </p:cNvPr>
          <p:cNvSpPr>
            <a:spLocks noGrp="1"/>
          </p:cNvSpPr>
          <p:nvPr/>
        </p:nvSpPr>
        <p:spPr>
          <a:xfrm>
            <a:off x="7953375" y="2743200"/>
            <a:ext cx="3476625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8CF182-0B15-422F-8FDB-B76336442275}"/>
              </a:ext>
            </a:extLst>
          </p:cNvPr>
          <p:cNvSpPr>
            <a:spLocks noGrp="1"/>
          </p:cNvSpPr>
          <p:nvPr/>
        </p:nvSpPr>
        <p:spPr>
          <a:xfrm>
            <a:off x="8143875" y="2876550"/>
            <a:ext cx="3095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Candidate sites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17DE1D-9749-47BD-8669-1E4FEAEEEE03}"/>
              </a:ext>
            </a:extLst>
          </p:cNvPr>
          <p:cNvSpPr>
            <a:spLocks noGrp="1"/>
          </p:cNvSpPr>
          <p:nvPr/>
        </p:nvSpPr>
        <p:spPr>
          <a:xfrm>
            <a:off x="8143875" y="3171825"/>
            <a:ext cx="30956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4A55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5561"/>
                </a:solidFill>
                <a:latin typeface="Aptos"/>
                <a:ea typeface="Aptos"/>
                <a:cs typeface="Aptos"/>
              </a:rPr>
              <a:t>Weighted K-means converts dispersed demand points into interpretable candidate locations.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8E8F00-08E0-4E53-AE37-A546ECCBB60C}"/>
              </a:ext>
            </a:extLst>
          </p:cNvPr>
          <p:cNvSpPr>
            <a:spLocks noGrp="1"/>
          </p:cNvSpPr>
          <p:nvPr/>
        </p:nvSpPr>
        <p:spPr>
          <a:xfrm>
            <a:off x="7953375" y="3867150"/>
            <a:ext cx="3476625" cy="895350"/>
          </a:xfrm>
          <a:prstGeom prst="rect">
            <a:avLst/>
          </a:prstGeom>
          <a:solidFill>
            <a:srgbClr val="17212B"/>
          </a:solidFill>
          <a:ln w="9525">
            <a:solidFill>
              <a:srgbClr val="D6DC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C5E0E6-480E-4947-8404-A7CFC7C4BBE3}"/>
              </a:ext>
            </a:extLst>
          </p:cNvPr>
          <p:cNvSpPr>
            <a:spLocks noGrp="1"/>
          </p:cNvSpPr>
          <p:nvPr/>
        </p:nvSpPr>
        <p:spPr>
          <a:xfrm>
            <a:off x="8143875" y="4000500"/>
            <a:ext cx="3095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 objective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4D1B98-2CA0-49B4-B33A-DC85E915C886}"/>
              </a:ext>
            </a:extLst>
          </p:cNvPr>
          <p:cNvSpPr>
            <a:spLocks noGrp="1"/>
          </p:cNvSpPr>
          <p:nvPr/>
        </p:nvSpPr>
        <p:spPr>
          <a:xfrm>
            <a:off x="8143875" y="4295775"/>
            <a:ext cx="30956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 = w₁·coverage − w₂·risk − w₃·cost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23CA55-BCD8-4F6C-A89B-A7AC2D5295C6}"/>
              </a:ext>
            </a:extLst>
          </p:cNvPr>
          <p:cNvSpPr>
            <a:spLocks noGrp="1"/>
          </p:cNvSpPr>
          <p:nvPr/>
        </p:nvSpPr>
        <p:spPr>
          <a:xfrm>
            <a:off x="7953375" y="4991100"/>
            <a:ext cx="3476625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51404B-F1B1-4B03-A6AF-2445837C8DAF}"/>
              </a:ext>
            </a:extLst>
          </p:cNvPr>
          <p:cNvSpPr>
            <a:spLocks noGrp="1"/>
          </p:cNvSpPr>
          <p:nvPr/>
        </p:nvSpPr>
        <p:spPr>
          <a:xfrm>
            <a:off x="8143875" y="5124450"/>
            <a:ext cx="3095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Interactive output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49F697-F25D-4A0D-B371-D84FA1896134}"/>
              </a:ext>
            </a:extLst>
          </p:cNvPr>
          <p:cNvSpPr>
            <a:spLocks noGrp="1"/>
          </p:cNvSpPr>
          <p:nvPr/>
        </p:nvSpPr>
        <p:spPr>
          <a:xfrm>
            <a:off x="8143875" y="5419725"/>
            <a:ext cx="30956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4A55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5561"/>
                </a:solidFill>
                <a:latin typeface="Aptos"/>
                <a:ea typeface="Aptos"/>
                <a:cs typeface="Aptos"/>
              </a:rPr>
              <a:t>Users can change seeds, weights, cluster count, population size, and generations.</a:t>
            </a:r>
          </a:p>
        </p:txBody>
      </p:sp>
    </p:spTree>
    <p:extLst>
      <p:ext uri="{BB962C8B-B14F-4D97-AF65-F5344CB8AC3E}">
        <p14:creationId xmlns:p14="http://schemas.microsoft.com/office/powerpoint/2010/main" val="1288102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EA81271C-4C36-4A23-9730-11219B383A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A0230E-3686-45DB-8582-EE88CE5BE97C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2667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OPTIMIZATION EVIDENCE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251DAB-B33B-433F-A316-85CEE1517CCD}"/>
              </a:ext>
            </a:extLst>
          </p:cNvPr>
          <p:cNvSpPr>
            <a:spLocks noGrp="1"/>
          </p:cNvSpPr>
          <p:nvPr/>
        </p:nvSpPr>
        <p:spPr>
          <a:xfrm>
            <a:off x="523875" y="723900"/>
            <a:ext cx="10001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GA exposes convergence instead of presenting a black-box answer.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9324" y="1600200"/>
            <a:ext cx="5767103" cy="4000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E8FD7E2-7596-4591-AA80-CD517FDBBE73}"/>
              </a:ext>
            </a:extLst>
          </p:cNvPr>
          <p:cNvSpPr>
            <a:spLocks noGrp="1"/>
          </p:cNvSpPr>
          <p:nvPr/>
        </p:nvSpPr>
        <p:spPr>
          <a:xfrm>
            <a:off x="8001000" y="1762125"/>
            <a:ext cx="3190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the user can inspect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F9EC0A-DC26-4976-8E91-56A858C4959D}"/>
              </a:ext>
            </a:extLst>
          </p:cNvPr>
          <p:cNvSpPr>
            <a:spLocks noGrp="1"/>
          </p:cNvSpPr>
          <p:nvPr/>
        </p:nvSpPr>
        <p:spPr>
          <a:xfrm>
            <a:off x="8001000" y="25241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5156F2-CE28-4623-B8F7-7EBA5693B3E5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fitness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D48915-1808-469F-9910-9A3A2B09503D}"/>
              </a:ext>
            </a:extLst>
          </p:cNvPr>
          <p:cNvSpPr>
            <a:spLocks noGrp="1"/>
          </p:cNvSpPr>
          <p:nvPr/>
        </p:nvSpPr>
        <p:spPr>
          <a:xfrm>
            <a:off x="8477250" y="2809875"/>
            <a:ext cx="2714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7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0D8"/>
                </a:solidFill>
                <a:latin typeface="Aptos"/>
                <a:ea typeface="Aptos"/>
                <a:cs typeface="Aptos"/>
              </a:rPr>
              <a:t>Tracks the best solution found across generations.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2336A2-A65C-40DE-BF41-A678E9C0377B}"/>
              </a:ext>
            </a:extLst>
          </p:cNvPr>
          <p:cNvSpPr>
            <a:spLocks noGrp="1"/>
          </p:cNvSpPr>
          <p:nvPr/>
        </p:nvSpPr>
        <p:spPr>
          <a:xfrm>
            <a:off x="8001000" y="334327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09C8E2-8AB6-4466-898E-269B79F20A40}"/>
              </a:ext>
            </a:extLst>
          </p:cNvPr>
          <p:cNvSpPr>
            <a:spLocks noGrp="1"/>
          </p:cNvSpPr>
          <p:nvPr/>
        </p:nvSpPr>
        <p:spPr>
          <a:xfrm>
            <a:off x="8477250" y="334327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 fitness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40E7A1-EF17-4806-B8E4-692101B60CB7}"/>
              </a:ext>
            </a:extLst>
          </p:cNvPr>
          <p:cNvSpPr>
            <a:spLocks noGrp="1"/>
          </p:cNvSpPr>
          <p:nvPr/>
        </p:nvSpPr>
        <p:spPr>
          <a:xfrm>
            <a:off x="8477250" y="3629025"/>
            <a:ext cx="2714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7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0D8"/>
                </a:solidFill>
                <a:latin typeface="Aptos"/>
                <a:ea typeface="Aptos"/>
                <a:cs typeface="Aptos"/>
              </a:rPr>
              <a:t>Shows population-level improvement and stability.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A2A1E3-EBD3-40BB-A154-3BFACEFCA69F}"/>
              </a:ext>
            </a:extLst>
          </p:cNvPr>
          <p:cNvSpPr>
            <a:spLocks noGrp="1"/>
          </p:cNvSpPr>
          <p:nvPr/>
        </p:nvSpPr>
        <p:spPr>
          <a:xfrm>
            <a:off x="8001000" y="416242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126A4A-177F-4596-8B90-087AB0F1DD5D}"/>
              </a:ext>
            </a:extLst>
          </p:cNvPr>
          <p:cNvSpPr>
            <a:spLocks noGrp="1"/>
          </p:cNvSpPr>
          <p:nvPr/>
        </p:nvSpPr>
        <p:spPr>
          <a:xfrm>
            <a:off x="8477250" y="41624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Site metrics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01F27D-4C4C-469F-8D3B-1279B2C67358}"/>
              </a:ext>
            </a:extLst>
          </p:cNvPr>
          <p:cNvSpPr>
            <a:spLocks noGrp="1"/>
          </p:cNvSpPr>
          <p:nvPr/>
        </p:nvSpPr>
        <p:spPr>
          <a:xfrm>
            <a:off x="8477250" y="4448175"/>
            <a:ext cx="2714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7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0D8"/>
                </a:solidFill>
                <a:latin typeface="Aptos"/>
                <a:ea typeface="Aptos"/>
                <a:cs typeface="Aptos"/>
              </a:rPr>
              <a:t>Coverage, risk, cost, and single-site score remain exportable.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23D0E0-1185-42A1-B3ED-C08037A5DC9D}"/>
              </a:ext>
            </a:extLst>
          </p:cNvPr>
          <p:cNvSpPr>
            <a:spLocks noGrp="1"/>
          </p:cNvSpPr>
          <p:nvPr/>
        </p:nvSpPr>
        <p:spPr>
          <a:xfrm>
            <a:off x="8001000" y="4981575"/>
            <a:ext cx="38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3A3598-E1D5-4B9F-8583-FDF2FBEEFB0F}"/>
              </a:ext>
            </a:extLst>
          </p:cNvPr>
          <p:cNvSpPr>
            <a:spLocks noGrp="1"/>
          </p:cNvSpPr>
          <p:nvPr/>
        </p:nvSpPr>
        <p:spPr>
          <a:xfrm>
            <a:off x="8477250" y="498157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06A463-ECF9-45D2-9DF3-E136BDEA8923}"/>
              </a:ext>
            </a:extLst>
          </p:cNvPr>
          <p:cNvSpPr>
            <a:spLocks noGrp="1"/>
          </p:cNvSpPr>
          <p:nvPr/>
        </p:nvSpPr>
        <p:spPr>
          <a:xfrm>
            <a:off x="8477250" y="5267325"/>
            <a:ext cx="2714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7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0D8"/>
                </a:solidFill>
                <a:latin typeface="Aptos"/>
                <a:ea typeface="Aptos"/>
                <a:cs typeface="Aptos"/>
              </a:rPr>
              <a:t>Random seeds allow repeatable experimental scenarios.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2528EE-5F89-42F1-B7DD-529C1EC6F7BF}"/>
              </a:ext>
            </a:extLst>
          </p:cNvPr>
          <p:cNvSpPr>
            <a:spLocks noGrp="1"/>
          </p:cNvSpPr>
          <p:nvPr/>
        </p:nvSpPr>
        <p:spPr>
          <a:xfrm>
            <a:off x="523875" y="6096000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Result: an auditable optimization process suitable for thesis experiments and parameter-sensitivity studies.</a:t>
            </a:r>
          </a:p>
        </p:txBody>
      </p:sp>
    </p:spTree>
    <p:extLst>
      <p:ext uri="{BB962C8B-B14F-4D97-AF65-F5344CB8AC3E}">
        <p14:creationId xmlns:p14="http://schemas.microsoft.com/office/powerpoint/2010/main" val="262811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9587AF04-6D75-496C-9C8C-27B4287DB2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594F6F-C7B2-4CFE-88DF-FA4FA52C32DC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2857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MODULE 2 · ROUTING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315E06-0C29-4459-B7CD-A6493CA64929}"/>
              </a:ext>
            </a:extLst>
          </p:cNvPr>
          <p:cNvSpPr>
            <a:spLocks noGrp="1"/>
          </p:cNvSpPr>
          <p:nvPr/>
        </p:nvSpPr>
        <p:spPr>
          <a:xfrm>
            <a:off x="523875" y="723900"/>
            <a:ext cx="10477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Selected vertiports become route origins to a fixed airport connector.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26709" y="1476375"/>
            <a:ext cx="5014232" cy="49053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A90BA2D-88B4-46D3-88E8-38B9CF8823C2}"/>
              </a:ext>
            </a:extLst>
          </p:cNvPr>
          <p:cNvSpPr>
            <a:spLocks noGrp="1"/>
          </p:cNvSpPr>
          <p:nvPr/>
        </p:nvSpPr>
        <p:spPr>
          <a:xfrm>
            <a:off x="7953375" y="1619250"/>
            <a:ext cx="3238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Shared edge-cost model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0182C2-F286-451F-A1C0-A914FD14CE3A}"/>
              </a:ext>
            </a:extLst>
          </p:cNvPr>
          <p:cNvSpPr>
            <a:spLocks noGrp="1"/>
          </p:cNvSpPr>
          <p:nvPr/>
        </p:nvSpPr>
        <p:spPr>
          <a:xfrm>
            <a:off x="7953375" y="2190750"/>
            <a:ext cx="3381375" cy="781050"/>
          </a:xfrm>
          <a:prstGeom prst="rect">
            <a:avLst/>
          </a:prstGeom>
          <a:solidFill>
            <a:srgbClr val="EEF6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EFC23A-B126-4189-AD54-7036DC91D65E}"/>
              </a:ext>
            </a:extLst>
          </p:cNvPr>
          <p:cNvSpPr>
            <a:spLocks noGrp="1"/>
          </p:cNvSpPr>
          <p:nvPr/>
        </p:nvSpPr>
        <p:spPr>
          <a:xfrm>
            <a:off x="8143875" y="2381250"/>
            <a:ext cx="30003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J = α·distance + β·risk + γ·cost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9B33C4-CD2D-4B54-9D8A-CF2AE410A030}"/>
              </a:ext>
            </a:extLst>
          </p:cNvPr>
          <p:cNvSpPr>
            <a:spLocks noGrp="1"/>
          </p:cNvSpPr>
          <p:nvPr/>
        </p:nvSpPr>
        <p:spPr>
          <a:xfrm>
            <a:off x="7953375" y="3333750"/>
            <a:ext cx="76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A*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FCFEE6-6BA9-41D1-94C2-724877FF28A7}"/>
              </a:ext>
            </a:extLst>
          </p:cNvPr>
          <p:cNvSpPr>
            <a:spLocks noGrp="1"/>
          </p:cNvSpPr>
          <p:nvPr/>
        </p:nvSpPr>
        <p:spPr>
          <a:xfrm>
            <a:off x="8810625" y="3333750"/>
            <a:ext cx="2524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Grid-based search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E61002-A53C-4C73-B63F-14E14B21D3AB}"/>
              </a:ext>
            </a:extLst>
          </p:cNvPr>
          <p:cNvSpPr>
            <a:spLocks noGrp="1"/>
          </p:cNvSpPr>
          <p:nvPr/>
        </p:nvSpPr>
        <p:spPr>
          <a:xfrm>
            <a:off x="8810625" y="3648075"/>
            <a:ext cx="25241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Open/closed lists, obstacle inflation, Euclidean or Manhattan heuristic.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14528D-6DAF-4B48-86B5-A92709EBA1EB}"/>
              </a:ext>
            </a:extLst>
          </p:cNvPr>
          <p:cNvSpPr>
            <a:spLocks noGrp="1"/>
          </p:cNvSpPr>
          <p:nvPr/>
        </p:nvSpPr>
        <p:spPr>
          <a:xfrm>
            <a:off x="7953375" y="4286250"/>
            <a:ext cx="76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RRT*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068080-C921-4F05-8A76-8B4C51564244}"/>
              </a:ext>
            </a:extLst>
          </p:cNvPr>
          <p:cNvSpPr>
            <a:spLocks noGrp="1"/>
          </p:cNvSpPr>
          <p:nvPr/>
        </p:nvSpPr>
        <p:spPr>
          <a:xfrm>
            <a:off x="8810625" y="4286250"/>
            <a:ext cx="2524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Continuous-space sampling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517AF2-DC53-49B8-AD26-3D225C98A433}"/>
              </a:ext>
            </a:extLst>
          </p:cNvPr>
          <p:cNvSpPr>
            <a:spLocks noGrp="1"/>
          </p:cNvSpPr>
          <p:nvPr/>
        </p:nvSpPr>
        <p:spPr>
          <a:xfrm>
            <a:off x="8810625" y="4600575"/>
            <a:ext cx="25241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Goal bias, collision checking, neighborhood rewiring, optional smoothing.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BA280E-62A1-434A-B084-0B960DE84151}"/>
              </a:ext>
            </a:extLst>
          </p:cNvPr>
          <p:cNvSpPr>
            <a:spLocks noGrp="1"/>
          </p:cNvSpPr>
          <p:nvPr/>
        </p:nvSpPr>
        <p:spPr>
          <a:xfrm>
            <a:off x="7953375" y="5238750"/>
            <a:ext cx="76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Risk field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6BD2AC-AA11-46D4-9A22-832666DCFC49}"/>
              </a:ext>
            </a:extLst>
          </p:cNvPr>
          <p:cNvSpPr>
            <a:spLocks noGrp="1"/>
          </p:cNvSpPr>
          <p:nvPr/>
        </p:nvSpPr>
        <p:spPr>
          <a:xfrm>
            <a:off x="8810625" y="5238750"/>
            <a:ext cx="2524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Risk-aware feasibility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87C97E-4B7A-4E87-84D1-11E77B2297C4}"/>
              </a:ext>
            </a:extLst>
          </p:cNvPr>
          <p:cNvSpPr>
            <a:spLocks noGrp="1"/>
          </p:cNvSpPr>
          <p:nvPr/>
        </p:nvSpPr>
        <p:spPr>
          <a:xfrm>
            <a:off x="8810625" y="5553075"/>
            <a:ext cx="25241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High-risk cells become obstacles; remaining fields contribute to route cost.</a:t>
            </a:r>
          </a:p>
        </p:txBody>
      </p:sp>
    </p:spTree>
    <p:extLst>
      <p:ext uri="{BB962C8B-B14F-4D97-AF65-F5344CB8AC3E}">
        <p14:creationId xmlns:p14="http://schemas.microsoft.com/office/powerpoint/2010/main" val="5471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96E2224-41FD-4103-A9D0-2C8B01CDF1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CAE4FF-8B41-4EB5-95AA-07AD7B688388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295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ALGORITHM COMPARISON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9AEEFB-15E8-45E1-9305-39F10175F0C4}"/>
              </a:ext>
            </a:extLst>
          </p:cNvPr>
          <p:cNvSpPr>
            <a:spLocks noGrp="1"/>
          </p:cNvSpPr>
          <p:nvPr/>
        </p:nvSpPr>
        <p:spPr>
          <a:xfrm>
            <a:off x="523875" y="723900"/>
            <a:ext cx="1028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A* and RRT* are compared on both solution quality and search effort.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2021827"/>
            <a:ext cx="7239000" cy="281434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2CC0AF2-176F-4B9D-A0DF-0221C1C618BB}"/>
              </a:ext>
            </a:extLst>
          </p:cNvPr>
          <p:cNvSpPr>
            <a:spLocks noGrp="1"/>
          </p:cNvSpPr>
          <p:nvPr/>
        </p:nvSpPr>
        <p:spPr>
          <a:xfrm>
            <a:off x="8191500" y="1571625"/>
            <a:ext cx="3286125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C7844F-D73F-4DC8-9834-794C8E7F06D2}"/>
              </a:ext>
            </a:extLst>
          </p:cNvPr>
          <p:cNvSpPr>
            <a:spLocks noGrp="1"/>
          </p:cNvSpPr>
          <p:nvPr/>
        </p:nvSpPr>
        <p:spPr>
          <a:xfrm>
            <a:off x="8429625" y="1790700"/>
            <a:ext cx="2809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Evaluation dimensions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FA597E-ED43-4E86-90E2-3248B3DBEC96}"/>
              </a:ext>
            </a:extLst>
          </p:cNvPr>
          <p:cNvSpPr>
            <a:spLocks noGrp="1"/>
          </p:cNvSpPr>
          <p:nvPr/>
        </p:nvSpPr>
        <p:spPr>
          <a:xfrm>
            <a:off x="8429625" y="2381250"/>
            <a:ext cx="85725" cy="85725"/>
          </a:xfrm>
          <a:prstGeom prst="ellipse">
            <a:avLst/>
          </a:prstGeom>
          <a:solidFill>
            <a:srgbClr val="E45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27DAE9-47F8-4115-883C-E6B5F4BBED38}"/>
              </a:ext>
            </a:extLst>
          </p:cNvPr>
          <p:cNvSpPr>
            <a:spLocks noGrp="1"/>
          </p:cNvSpPr>
          <p:nvPr/>
        </p:nvSpPr>
        <p:spPr>
          <a:xfrm>
            <a:off x="8667750" y="2333625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Path quality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BDFBD9-13AA-4126-A7ED-A0F89CDD5B2E}"/>
              </a:ext>
            </a:extLst>
          </p:cNvPr>
          <p:cNvSpPr>
            <a:spLocks noGrp="1"/>
          </p:cNvSpPr>
          <p:nvPr/>
        </p:nvSpPr>
        <p:spPr>
          <a:xfrm>
            <a:off x="8667750" y="2590800"/>
            <a:ext cx="23812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965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0"/>
                </a:solidFill>
                <a:latin typeface="Aptos"/>
                <a:ea typeface="Aptos"/>
                <a:cs typeface="Aptos"/>
              </a:rPr>
              <a:t>Length, cumulative risk, cumulative cost, average risk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F44907A-671C-48E1-BE53-2558BC7DE942}"/>
              </a:ext>
            </a:extLst>
          </p:cNvPr>
          <p:cNvSpPr>
            <a:spLocks noGrp="1"/>
          </p:cNvSpPr>
          <p:nvPr/>
        </p:nvSpPr>
        <p:spPr>
          <a:xfrm>
            <a:off x="8429625" y="3067050"/>
            <a:ext cx="85725" cy="85725"/>
          </a:xfrm>
          <a:prstGeom prst="ellipse">
            <a:avLst/>
          </a:prstGeom>
          <a:solidFill>
            <a:srgbClr val="E457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4AF845-7A25-4FCF-ADB5-547B32E25C95}"/>
              </a:ext>
            </a:extLst>
          </p:cNvPr>
          <p:cNvSpPr>
            <a:spLocks noGrp="1"/>
          </p:cNvSpPr>
          <p:nvPr/>
        </p:nvSpPr>
        <p:spPr>
          <a:xfrm>
            <a:off x="8667750" y="3019425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A8A2F9-D965-48D3-8F15-3595C55EC77D}"/>
              </a:ext>
            </a:extLst>
          </p:cNvPr>
          <p:cNvSpPr>
            <a:spLocks noGrp="1"/>
          </p:cNvSpPr>
          <p:nvPr/>
        </p:nvSpPr>
        <p:spPr>
          <a:xfrm>
            <a:off x="8667750" y="3276600"/>
            <a:ext cx="23812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965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0"/>
                </a:solidFill>
                <a:latin typeface="Aptos"/>
                <a:ea typeface="Aptos"/>
                <a:cs typeface="Aptos"/>
              </a:rPr>
              <a:t>Minimum obstacle clearance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4577E33-A6B5-49A9-B0F6-4B624338D849}"/>
              </a:ext>
            </a:extLst>
          </p:cNvPr>
          <p:cNvSpPr>
            <a:spLocks noGrp="1"/>
          </p:cNvSpPr>
          <p:nvPr/>
        </p:nvSpPr>
        <p:spPr>
          <a:xfrm>
            <a:off x="8429625" y="3752850"/>
            <a:ext cx="85725" cy="85725"/>
          </a:xfrm>
          <a:prstGeom prst="ellipse">
            <a:avLst/>
          </a:prstGeom>
          <a:solidFill>
            <a:srgbClr val="1F7A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052320-7C14-410D-80A2-1DD1A7328D6D}"/>
              </a:ext>
            </a:extLst>
          </p:cNvPr>
          <p:cNvSpPr>
            <a:spLocks noGrp="1"/>
          </p:cNvSpPr>
          <p:nvPr/>
        </p:nvSpPr>
        <p:spPr>
          <a:xfrm>
            <a:off x="8667750" y="3705225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62440A-0496-4139-ABA7-F9D00464690D}"/>
              </a:ext>
            </a:extLst>
          </p:cNvPr>
          <p:cNvSpPr>
            <a:spLocks noGrp="1"/>
          </p:cNvSpPr>
          <p:nvPr/>
        </p:nvSpPr>
        <p:spPr>
          <a:xfrm>
            <a:off x="8667750" y="3962400"/>
            <a:ext cx="23812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965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0"/>
                </a:solidFill>
                <a:latin typeface="Aptos"/>
                <a:ea typeface="Aptos"/>
                <a:cs typeface="Aptos"/>
              </a:rPr>
              <a:t>Runtime and explored/tree node count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0CB4C08-825C-4B7C-B1DF-E663ACEB023D}"/>
              </a:ext>
            </a:extLst>
          </p:cNvPr>
          <p:cNvSpPr>
            <a:spLocks noGrp="1"/>
          </p:cNvSpPr>
          <p:nvPr/>
        </p:nvSpPr>
        <p:spPr>
          <a:xfrm>
            <a:off x="8429625" y="4438650"/>
            <a:ext cx="85725" cy="85725"/>
          </a:xfrm>
          <a:prstGeom prst="ellipse">
            <a:avLst/>
          </a:prstGeom>
          <a:solidFill>
            <a:srgbClr val="1F7A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3EE2475-3C7E-4279-AC5F-42FF8103B3C9}"/>
              </a:ext>
            </a:extLst>
          </p:cNvPr>
          <p:cNvSpPr>
            <a:spLocks noGrp="1"/>
          </p:cNvSpPr>
          <p:nvPr/>
        </p:nvSpPr>
        <p:spPr>
          <a:xfrm>
            <a:off x="8667750" y="4391025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Smoothness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117DE2-04CB-4F4C-963B-D902299113BD}"/>
              </a:ext>
            </a:extLst>
          </p:cNvPr>
          <p:cNvSpPr>
            <a:spLocks noGrp="1"/>
          </p:cNvSpPr>
          <p:nvPr/>
        </p:nvSpPr>
        <p:spPr>
          <a:xfrm>
            <a:off x="8667750" y="4648200"/>
            <a:ext cx="23812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965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0"/>
                </a:solidFill>
                <a:latin typeface="Aptos"/>
                <a:ea typeface="Aptos"/>
                <a:cs typeface="Aptos"/>
              </a:rPr>
              <a:t>Turn count and tortuosity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31CFAFB-97B7-4244-B2D7-3F8DE23A80F9}"/>
              </a:ext>
            </a:extLst>
          </p:cNvPr>
          <p:cNvSpPr>
            <a:spLocks noGrp="1"/>
          </p:cNvSpPr>
          <p:nvPr/>
        </p:nvSpPr>
        <p:spPr>
          <a:xfrm>
            <a:off x="666750" y="5762625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interface automatically summarizes which algorithm is shortest, safest, and fastest under the current parameter set.</a:t>
            </a:r>
          </a:p>
        </p:txBody>
      </p:sp>
    </p:spTree>
    <p:extLst>
      <p:ext uri="{BB962C8B-B14F-4D97-AF65-F5344CB8AC3E}">
        <p14:creationId xmlns:p14="http://schemas.microsoft.com/office/powerpoint/2010/main" val="213122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9942B0B-B017-49F1-B226-5215CE3A0A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FA0ED7-0F22-4544-9C90-065AAF14EAA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RESEARCH VALUE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3AE111-14A5-4DEE-B141-61693900788A}"/>
              </a:ext>
            </a:extLst>
          </p:cNvPr>
          <p:cNvSpPr>
            <a:spLocks noGrp="1"/>
          </p:cNvSpPr>
          <p:nvPr/>
        </p:nvSpPr>
        <p:spPr>
          <a:xfrm>
            <a:off x="523875" y="819150"/>
            <a:ext cx="10477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system is designed as an experimental platform,</a:t>
            </a:r>
          </a:p>
          <a:p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a one-off visualization.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54115D-6E12-4E30-8B00-13D66F76DC87}"/>
              </a:ext>
            </a:extLst>
          </p:cNvPr>
          <p:cNvSpPr>
            <a:spLocks noGrp="1"/>
          </p:cNvSpPr>
          <p:nvPr/>
        </p:nvSpPr>
        <p:spPr>
          <a:xfrm>
            <a:off x="523875" y="2571750"/>
            <a:ext cx="3190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A94E51-5433-4FA1-99B4-9F9E3759D411}"/>
              </a:ext>
            </a:extLst>
          </p:cNvPr>
          <p:cNvSpPr>
            <a:spLocks noGrp="1"/>
          </p:cNvSpPr>
          <p:nvPr/>
        </p:nvSpPr>
        <p:spPr>
          <a:xfrm>
            <a:off x="523875" y="3048000"/>
            <a:ext cx="3190875" cy="19050"/>
          </a:xfrm>
          <a:prstGeom prst="rect">
            <a:avLst/>
          </a:prstGeom>
          <a:solidFill>
            <a:srgbClr val="5360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4A35AD-5B17-4C9E-AF83-74A1646ADD14}"/>
              </a:ext>
            </a:extLst>
          </p:cNvPr>
          <p:cNvSpPr>
            <a:spLocks noGrp="1"/>
          </p:cNvSpPr>
          <p:nvPr/>
        </p:nvSpPr>
        <p:spPr>
          <a:xfrm>
            <a:off x="523875" y="3286125"/>
            <a:ext cx="31908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Interactive experimentation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6C9C37-FACB-4117-8A45-6058C90FF509}"/>
              </a:ext>
            </a:extLst>
          </p:cNvPr>
          <p:cNvSpPr>
            <a:spLocks noGrp="1"/>
          </p:cNvSpPr>
          <p:nvPr/>
        </p:nvSpPr>
        <p:spPr>
          <a:xfrm>
            <a:off x="523875" y="4048125"/>
            <a:ext cx="3190875" cy="1285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0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7D0D8"/>
                </a:solidFill>
                <a:latin typeface="Aptos"/>
                <a:ea typeface="Aptos"/>
                <a:cs typeface="Aptos"/>
              </a:rPr>
              <a:t>Scenario seeds, demand structure, objective weights, and algorithm parameters can be changed without editing code.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7B6B5A-B9C6-4A37-AA29-4DD82572000E}"/>
              </a:ext>
            </a:extLst>
          </p:cNvPr>
          <p:cNvSpPr>
            <a:spLocks noGrp="1"/>
          </p:cNvSpPr>
          <p:nvPr/>
        </p:nvSpPr>
        <p:spPr>
          <a:xfrm>
            <a:off x="4238625" y="2571750"/>
            <a:ext cx="3190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D6C714-1129-4043-8588-7FAD8C4B6E92}"/>
              </a:ext>
            </a:extLst>
          </p:cNvPr>
          <p:cNvSpPr>
            <a:spLocks noGrp="1"/>
          </p:cNvSpPr>
          <p:nvPr/>
        </p:nvSpPr>
        <p:spPr>
          <a:xfrm>
            <a:off x="4238625" y="3048000"/>
            <a:ext cx="3190875" cy="19050"/>
          </a:xfrm>
          <a:prstGeom prst="rect">
            <a:avLst/>
          </a:prstGeom>
          <a:solidFill>
            <a:srgbClr val="5360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72B1EA-A705-4FCF-A433-1F52A6373E36}"/>
              </a:ext>
            </a:extLst>
          </p:cNvPr>
          <p:cNvSpPr>
            <a:spLocks noGrp="1"/>
          </p:cNvSpPr>
          <p:nvPr/>
        </p:nvSpPr>
        <p:spPr>
          <a:xfrm>
            <a:off x="4238625" y="3286125"/>
            <a:ext cx="31908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Transparent methodology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6696B7-F973-461C-A2E9-389B8F8B53C9}"/>
              </a:ext>
            </a:extLst>
          </p:cNvPr>
          <p:cNvSpPr>
            <a:spLocks noGrp="1"/>
          </p:cNvSpPr>
          <p:nvPr/>
        </p:nvSpPr>
        <p:spPr>
          <a:xfrm>
            <a:off x="4238625" y="4048125"/>
            <a:ext cx="3190875" cy="1285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0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7D0D8"/>
                </a:solidFill>
                <a:latin typeface="Aptos"/>
                <a:ea typeface="Aptos"/>
                <a:cs typeface="Aptos"/>
              </a:rPr>
              <a:t>Each intermediate stage is visible: fields, demand points, clusters, candidate sites, optimized sites, search trees, and final routes.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7DEC33-4B29-4313-A2BB-327F06790FD8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3190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2A1F9E-378E-46C6-A8F9-51F121C734C8}"/>
              </a:ext>
            </a:extLst>
          </p:cNvPr>
          <p:cNvSpPr>
            <a:spLocks noGrp="1"/>
          </p:cNvSpPr>
          <p:nvPr/>
        </p:nvSpPr>
        <p:spPr>
          <a:xfrm>
            <a:off x="7953375" y="3048000"/>
            <a:ext cx="3190875" cy="19050"/>
          </a:xfrm>
          <a:prstGeom prst="rect">
            <a:avLst/>
          </a:prstGeom>
          <a:solidFill>
            <a:srgbClr val="5360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8E1D43-DFA1-4FBF-8D4C-F3F98647D184}"/>
              </a:ext>
            </a:extLst>
          </p:cNvPr>
          <p:cNvSpPr>
            <a:spLocks noGrp="1"/>
          </p:cNvSpPr>
          <p:nvPr/>
        </p:nvSpPr>
        <p:spPr>
          <a:xfrm>
            <a:off x="7953375" y="3286125"/>
            <a:ext cx="31908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Extensible architecture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9E3685-4941-407A-9917-DFD2D6A55A73}"/>
              </a:ext>
            </a:extLst>
          </p:cNvPr>
          <p:cNvSpPr>
            <a:spLocks noGrp="1"/>
          </p:cNvSpPr>
          <p:nvPr/>
        </p:nvSpPr>
        <p:spPr>
          <a:xfrm>
            <a:off x="7953375" y="4048125"/>
            <a:ext cx="3190875" cy="1285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0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7D0D8"/>
                </a:solidFill>
                <a:latin typeface="Aptos"/>
                <a:ea typeface="Aptos"/>
                <a:cs typeface="Aptos"/>
              </a:rPr>
              <a:t>The modular Python structure supports real GIS data, multi-objective optimization, capacity constraints, and new planners.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A82052-E59C-43C5-804A-AC8020CFD54C}"/>
              </a:ext>
            </a:extLst>
          </p:cNvPr>
          <p:cNvSpPr>
            <a:spLocks noGrp="1"/>
          </p:cNvSpPr>
          <p:nvPr/>
        </p:nvSpPr>
        <p:spPr>
          <a:xfrm>
            <a:off x="523875" y="5905500"/>
            <a:ext cx="11049000" cy="1905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479212-831C-4C99-9BD2-7DC56447A802}"/>
              </a:ext>
            </a:extLst>
          </p:cNvPr>
          <p:cNvSpPr>
            <a:spLocks noGrp="1"/>
          </p:cNvSpPr>
          <p:nvPr/>
        </p:nvSpPr>
        <p:spPr>
          <a:xfrm>
            <a:off x="523875" y="6115050"/>
            <a:ext cx="1104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step: replace synthetic fields with real urban demand, land-cost, airspace, and infrastructure datasets.</a:t>
            </a:r>
          </a:p>
        </p:txBody>
      </p:sp>
    </p:spTree>
    <p:extLst>
      <p:ext uri="{BB962C8B-B14F-4D97-AF65-F5344CB8AC3E}">
        <p14:creationId xmlns:p14="http://schemas.microsoft.com/office/powerpoint/2010/main" val="7550642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Microsoft Office PowerPoint</Application>
  <DocSecurity>0</DocSecurity>
  <PresentationFormat>宽屏</PresentationFormat>
  <Paragraphs>93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m34717@365mso.com</cp:lastModifiedBy>
  <cp:revision>1</cp:revision>
  <dcterms:created xsi:type="dcterms:W3CDTF">2026-06-11T11:30:14Z</dcterms:created>
  <dcterms:modified xsi:type="dcterms:W3CDTF">2026-06-12T05:43:08Z</dcterms:modified>
</cp:coreProperties>
</file>